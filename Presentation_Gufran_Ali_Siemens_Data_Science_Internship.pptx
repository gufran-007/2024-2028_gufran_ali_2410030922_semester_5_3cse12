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CCAB"/>
    <a:srgbClr val="D27E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46304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023360" cy="146304"/>
          </a:xfrm>
          <a:prstGeom prst="rect">
            <a:avLst/>
          </a:prstGeom>
          <a:solidFill>
            <a:srgbClr val="2D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050791" cy="146304"/>
          </a:xfrm>
          <a:prstGeom prst="rect">
            <a:avLst/>
          </a:prstGeom>
          <a:solidFill>
            <a:srgbClr val="D2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il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914400" cy="9747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5029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057"/>
                </a:solidFill>
                <a:latin typeface="Aptos"/>
              </a:rPr>
              <a:t>IILM UNIVERSITY, GREATER NOIDA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98755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>
                <a:solidFill>
                  <a:srgbClr val="143057"/>
                </a:solidFill>
                <a:latin typeface="Aptos Display"/>
              </a:rPr>
              <a:t>DATA SCIENCE MASTER
VIRTUAL INTERNSHIP</a:t>
            </a:r>
          </a:p>
          <a:p>
            <a:r>
              <a:rPr sz="1700" dirty="0">
                <a:solidFill>
                  <a:srgbClr val="2D5D91"/>
                </a:solidFill>
                <a:latin typeface="Aptos"/>
              </a:rPr>
              <a:t>Industry-oriented learning in Data Engineering, Machine Learning and AI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10149840" cy="2423160"/>
          </a:xfrm>
          <a:prstGeom prst="roundRect">
            <a:avLst/>
          </a:prstGeom>
          <a:solidFill>
            <a:srgbClr val="EDCCAB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49300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D5D91"/>
                </a:solidFill>
                <a:latin typeface="Aptos"/>
              </a:rP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493008"/>
            <a:ext cx="114621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dirty="0">
                <a:solidFill>
                  <a:srgbClr val="37414B"/>
                </a:solidFill>
                <a:latin typeface="Aptos"/>
              </a:rPr>
              <a:t>GUFRAN 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4048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D5D91"/>
                </a:solidFill>
                <a:latin typeface="Aptos"/>
              </a:rPr>
              <a:t>Enrollment / Student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840480"/>
            <a:ext cx="2084225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50" b="1" dirty="0">
                <a:solidFill>
                  <a:srgbClr val="37414B"/>
                </a:solidFill>
                <a:latin typeface="Aptos"/>
              </a:rPr>
              <a:t>Engineering/2024/20837</a:t>
            </a:r>
            <a:endParaRPr sz="135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34440" y="418795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D5D91"/>
                </a:solidFill>
                <a:latin typeface="Aptos"/>
              </a:rPr>
              <a:t>Program &amp; Semester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187952"/>
            <a:ext cx="218470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dirty="0" err="1">
                <a:solidFill>
                  <a:srgbClr val="37414B"/>
                </a:solidFill>
                <a:latin typeface="Aptos"/>
              </a:rPr>
              <a:t>B.Tech</a:t>
            </a:r>
            <a:r>
              <a:rPr sz="1350" b="1" dirty="0">
                <a:solidFill>
                  <a:srgbClr val="37414B"/>
                </a:solidFill>
                <a:latin typeface="Aptos"/>
              </a:rPr>
              <a:t> CSE  •  Semester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3542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D5D91"/>
                </a:solidFill>
                <a:latin typeface="Aptos"/>
              </a:rPr>
              <a:t>Organization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35424"/>
            <a:ext cx="872355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dirty="0">
                <a:solidFill>
                  <a:srgbClr val="37414B"/>
                </a:solidFill>
                <a:latin typeface="Aptos"/>
              </a:rPr>
              <a:t>Siemens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82896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D5D91"/>
                </a:solidFill>
                <a:latin typeface="Aptos"/>
              </a:rPr>
              <a:t>Delivery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882896"/>
            <a:ext cx="1854162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dirty="0" err="1">
                <a:solidFill>
                  <a:srgbClr val="37414B"/>
                </a:solidFill>
                <a:latin typeface="Aptos"/>
              </a:rPr>
              <a:t>EduSkills</a:t>
            </a:r>
            <a:r>
              <a:rPr sz="1350" b="1" dirty="0">
                <a:solidFill>
                  <a:srgbClr val="37414B"/>
                </a:solidFill>
                <a:latin typeface="Aptos"/>
              </a:rPr>
              <a:t> Foundation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23036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D5D91"/>
                </a:solidFill>
                <a:latin typeface="Aptos"/>
              </a:rPr>
              <a:t>Internship 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230368"/>
            <a:ext cx="2360005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dirty="0">
                <a:solidFill>
                  <a:srgbClr val="37414B"/>
                </a:solidFill>
                <a:latin typeface="Aptos"/>
              </a:rPr>
              <a:t>April – June 2026  •  8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F6670"/>
                </a:solidFill>
                <a:latin typeface="Aptos"/>
              </a:rPr>
              <a:t>Supported by Siemens  •  AICTE / National Internship Portal ecosystem  •  EduSkills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Internship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01 /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Eight-week virtual internship completed during April–June 2026.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Focus: practical understanding of the data science lifecycle from data preparation to model evaluation.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Learning environment: structured online content, assessments and visual data-science workflows.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Primary industry support: Siemens; internship delivery platform: EduSkills Foundation.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Completion certificate records Grade O (Outstanding), within the 90–100 range shown on the certificate.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Organization &amp; Delivery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02 /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3246120"/>
          </a:xfrm>
          <a:prstGeom prst="roundRect">
            <a:avLst/>
          </a:prstGeom>
          <a:solidFill>
            <a:srgbClr val="F4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3057"/>
                </a:solidFill>
                <a:latin typeface="Aptos"/>
              </a:rPr>
              <a:t>IILM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2788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37414B"/>
                </a:solidFill>
                <a:latin typeface="Aptos"/>
              </a:rPr>
              <a:t>Academic setting
B.Tech CSE
Greater Noida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337560" cy="3246120"/>
          </a:xfrm>
          <a:prstGeom prst="roundRect">
            <a:avLst/>
          </a:prstGeom>
          <a:solidFill>
            <a:srgbClr val="F4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73736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3057"/>
                </a:solidFill>
                <a:latin typeface="Aptos"/>
              </a:rPr>
              <a:t>EduSkills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4600"/>
            <a:ext cx="2788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37414B"/>
                </a:solidFill>
                <a:latin typeface="Aptos"/>
              </a:rPr>
              <a:t>Virtual internship delivery
Industry-oriented skilling
Academia–industry bridge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337560" cy="3246120"/>
          </a:xfrm>
          <a:prstGeom prst="roundRect">
            <a:avLst/>
          </a:prstGeom>
          <a:solidFill>
            <a:srgbClr val="F4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3057"/>
                </a:solidFill>
                <a:latin typeface="Aptos"/>
              </a:rPr>
              <a:t>Siemens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14600"/>
            <a:ext cx="2788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37414B"/>
                </a:solidFill>
                <a:latin typeface="Aptos"/>
              </a:rPr>
              <a:t>Industry support
Technology, digitalisation
and data-driven 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D5D91"/>
                </a:solidFill>
                <a:latin typeface="Aptos"/>
              </a:rPr>
              <a:t>The certificate supplied with the report records the participation of the Ministry of Education, AICTE, National Internship Portal, EduSkills and Siemens.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03 /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The main challenge addressed by the internship was the gap between learning isolated data-science concepts and applying them as one connected workflow.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 useful analytical result depends on data quality, preparation, feature selection, model choice and validation—not only on the algorithm.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The internship therefore emphasised a repeatable process for moving from a dataset to an interpretable analytical or predictive result.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This approach is especially relevant to a B.Tech CSE student because it connects programming, databases, statistics, machine learning and software workflow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04 /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Understand the end-to-end data science lifecycle.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Practise data inspection, filtering, transformation, selection and aggregation.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Build familiarity with classification, regression, feature engineering and model validation.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Interpret model outputs and compare alternative analytical approaches.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Document workflows clearly enough to reproduce or explain them.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Keep the work within an academic / training scope; no proprietary Siemens production data is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Technologies &amp; Learning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05 / Technical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074920" cy="1188720"/>
          </a:xfrm>
          <a:prstGeom prst="roundRect">
            <a:avLst/>
          </a:prstGeom>
          <a:solidFill>
            <a:srgbClr val="F4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399032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7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7414B"/>
                </a:solidFill>
                <a:latin typeface="Aptos"/>
              </a:rPr>
              <a:t>Programming and data-science concepts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5074920" cy="1188720"/>
          </a:xfrm>
          <a:prstGeom prst="roundRect">
            <a:avLst/>
          </a:prstGeom>
          <a:solidFill>
            <a:srgbClr val="F4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399032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7"/>
                </a:solidFill>
                <a:latin typeface="Aptos"/>
              </a:rPr>
              <a:t>RapidMiner / Altair AI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105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7414B"/>
                </a:solidFill>
                <a:latin typeface="Aptos"/>
              </a:rPr>
              <a:t>Visual workflow design and applied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074920" cy="1188720"/>
          </a:xfrm>
          <a:prstGeom prst="roundRect">
            <a:avLst/>
          </a:prstGeom>
          <a:solidFill>
            <a:srgbClr val="F4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999232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7"/>
                </a:solidFill>
                <a:latin typeface="Aptos"/>
              </a:rP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107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7414B"/>
                </a:solidFill>
                <a:latin typeface="Aptos"/>
              </a:rPr>
              <a:t>Filtering, transformation, selection, aggregation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34640"/>
            <a:ext cx="5074920" cy="1188720"/>
          </a:xfrm>
          <a:prstGeom prst="roundRect">
            <a:avLst/>
          </a:prstGeom>
          <a:solidFill>
            <a:srgbClr val="F4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999232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7"/>
                </a:solidFill>
                <a:latin typeface="Aptos"/>
              </a:rPr>
              <a:t>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107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7414B"/>
                </a:solidFill>
                <a:latin typeface="Aptos"/>
              </a:rPr>
              <a:t>Classification, regression, feature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34840"/>
            <a:ext cx="5074920" cy="1188720"/>
          </a:xfrm>
          <a:prstGeom prst="roundRect">
            <a:avLst/>
          </a:prstGeom>
          <a:solidFill>
            <a:srgbClr val="F4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1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7"/>
                </a:solidFill>
                <a:latin typeface="Aptos"/>
              </a:rPr>
              <a:t>Validation &amp;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109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7414B"/>
                </a:solidFill>
                <a:latin typeface="Aptos"/>
              </a:rPr>
              <a:t>Cross-validation, performance views, model comparison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434840"/>
            <a:ext cx="5074920" cy="1188720"/>
          </a:xfrm>
          <a:prstGeom prst="roundRect">
            <a:avLst/>
          </a:prstGeom>
          <a:solidFill>
            <a:srgbClr val="F4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4599431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7"/>
                </a:solidFill>
                <a:latin typeface="Aptos"/>
              </a:rPr>
              <a:t>Visualisation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109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7414B"/>
                </a:solidFill>
                <a:latin typeface="Aptos"/>
              </a:rPr>
              <a:t>Patterns, trends and interpretation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06 /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7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795528"/>
            <a:ext cx="9662160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07 /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8</a:t>
            </a:r>
          </a:p>
        </p:txBody>
      </p:sp>
      <p:sp>
        <p:nvSpPr>
          <p:cNvPr id="8" name="Oval 7"/>
          <p:cNvSpPr/>
          <p:nvPr/>
        </p:nvSpPr>
        <p:spPr>
          <a:xfrm>
            <a:off x="1115568" y="1417320"/>
            <a:ext cx="658368" cy="658368"/>
          </a:xfrm>
          <a:prstGeom prst="ellipse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52728" y="1554480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3057"/>
                </a:solidFill>
                <a:latin typeface="Aptos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355" y="2834640"/>
            <a:ext cx="186365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Define the question and </a:t>
            </a:r>
            <a:endParaRPr lang="en-US" sz="1250" dirty="0">
              <a:solidFill>
                <a:srgbClr val="37414B"/>
              </a:solidFill>
              <a:latin typeface="Aptos"/>
            </a:endParaRPr>
          </a:p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expected output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58568" y="1627632"/>
            <a:ext cx="384048" cy="201168"/>
          </a:xfrm>
          <a:prstGeom prst="rightArrow">
            <a:avLst/>
          </a:prstGeom>
          <a:solidFill>
            <a:srgbClr val="D2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17520" y="1417320"/>
            <a:ext cx="658368" cy="658368"/>
          </a:xfrm>
          <a:prstGeom prst="ellipse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1554480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33172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3057"/>
                </a:solidFill>
                <a:latin typeface="Aptos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8928" y="2834640"/>
            <a:ext cx="186640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Review attributes, types </a:t>
            </a:r>
            <a:endParaRPr lang="en-US" sz="1250" dirty="0">
              <a:solidFill>
                <a:srgbClr val="37414B"/>
              </a:solidFill>
              <a:latin typeface="Aptos"/>
            </a:endParaRPr>
          </a:p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and data quality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60520" y="1627632"/>
            <a:ext cx="384048" cy="201168"/>
          </a:xfrm>
          <a:prstGeom prst="rightArrow">
            <a:avLst/>
          </a:prstGeom>
          <a:solidFill>
            <a:srgbClr val="D2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9472" y="1417320"/>
            <a:ext cx="658368" cy="658368"/>
          </a:xfrm>
          <a:prstGeom prst="ellipse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56632" y="1554480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233172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3057"/>
                </a:solidFill>
                <a:latin typeface="Aptos"/>
              </a:rPr>
              <a:t>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9221" y="2834640"/>
            <a:ext cx="180972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Filter, transform, select </a:t>
            </a:r>
            <a:endParaRPr lang="en-US" sz="1250" dirty="0">
              <a:solidFill>
                <a:srgbClr val="37414B"/>
              </a:solidFill>
              <a:latin typeface="Aptos"/>
            </a:endParaRPr>
          </a:p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and reshape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62472" y="1627632"/>
            <a:ext cx="384048" cy="201168"/>
          </a:xfrm>
          <a:prstGeom prst="rightArrow">
            <a:avLst/>
          </a:prstGeom>
          <a:solidFill>
            <a:srgbClr val="D2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21424" y="1417320"/>
            <a:ext cx="658368" cy="658368"/>
          </a:xfrm>
          <a:prstGeom prst="ellipse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58584" y="1554480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33172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3057"/>
                </a:solidFill>
                <a:latin typeface="Aptos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3311" y="2834640"/>
            <a:ext cx="164545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Apply an appropriate </a:t>
            </a:r>
            <a:endParaRPr lang="en-US" sz="1250" dirty="0">
              <a:solidFill>
                <a:srgbClr val="37414B"/>
              </a:solidFill>
              <a:latin typeface="Aptos"/>
            </a:endParaRPr>
          </a:p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analytical method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64424" y="1627632"/>
            <a:ext cx="384048" cy="201168"/>
          </a:xfrm>
          <a:prstGeom prst="rightArrow">
            <a:avLst/>
          </a:prstGeom>
          <a:solidFill>
            <a:srgbClr val="D2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723376" y="1417320"/>
            <a:ext cx="658368" cy="658368"/>
          </a:xfrm>
          <a:prstGeom prst="ellipse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0536" y="1554480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233172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3057"/>
                </a:solidFill>
                <a:latin typeface="Aptos"/>
              </a:rPr>
              <a:t>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6753" y="2834640"/>
            <a:ext cx="176247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Measure and compare </a:t>
            </a:r>
            <a:endParaRPr lang="en-US" sz="1250" dirty="0">
              <a:solidFill>
                <a:srgbClr val="37414B"/>
              </a:solidFill>
              <a:latin typeface="Aptos"/>
            </a:endParaRPr>
          </a:p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model </a:t>
            </a:r>
            <a:r>
              <a:rPr sz="1250" dirty="0" err="1">
                <a:solidFill>
                  <a:srgbClr val="37414B"/>
                </a:solidFill>
                <a:latin typeface="Aptos"/>
              </a:rPr>
              <a:t>behaviour</a:t>
            </a:r>
            <a:endParaRPr sz="1250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66376" y="1627632"/>
            <a:ext cx="384048" cy="201168"/>
          </a:xfrm>
          <a:prstGeom prst="rightArrow">
            <a:avLst/>
          </a:prstGeom>
          <a:solidFill>
            <a:srgbClr val="D2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625328" y="1417320"/>
            <a:ext cx="658368" cy="658368"/>
          </a:xfrm>
          <a:prstGeom prst="ellipse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62488" y="1554480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233172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3057"/>
                </a:solidFill>
                <a:latin typeface="Aptos"/>
              </a:rPr>
              <a:t>Interpret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53087" y="2834640"/>
            <a:ext cx="159370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Explain findings and </a:t>
            </a:r>
            <a:endParaRPr lang="en-US" sz="1250" dirty="0">
              <a:solidFill>
                <a:srgbClr val="37414B"/>
              </a:solidFill>
              <a:latin typeface="Aptos"/>
            </a:endParaRPr>
          </a:p>
          <a:p>
            <a:pPr algn="ctr"/>
            <a:r>
              <a:rPr sz="1250" dirty="0">
                <a:solidFill>
                  <a:srgbClr val="37414B"/>
                </a:solidFill>
                <a:latin typeface="Aptos"/>
              </a:rPr>
              <a:t>limitations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Practical Learning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08 /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Visual data-processing exercises: attribute selection, filtering, transformation and aggregation.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Model-building activities covering classification and regression workflows.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Validation and comparison activities using performance measures and model-result views.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Exposure to feature handling and the effect of preparation choices on downstream analysis.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Process-organisation exercises that emphasised readable, modular analytical workflows.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These activities were treated as training exercises rather than as claims about confidential industrial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Outcomes &amp; Skills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09 /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2377440" cy="658368"/>
          </a:xfrm>
          <a:prstGeom prst="round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28930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Data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216152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7414B"/>
                </a:solidFill>
                <a:latin typeface="Aptos"/>
              </a:rPr>
              <a:t>More confident with the preparation stage before modelling.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2377440" cy="658368"/>
          </a:xfrm>
          <a:prstGeom prst="round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76272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7414B"/>
                </a:solidFill>
                <a:latin typeface="Aptos"/>
              </a:rPr>
              <a:t>Clearer understanding of training, validation and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2377440" cy="658368"/>
          </a:xfrm>
          <a:prstGeom prst="round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20954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Analytical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136392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7414B"/>
                </a:solidFill>
                <a:latin typeface="Aptos"/>
              </a:rPr>
              <a:t>Better habit of checking whether outputs answer the original question.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2377440" cy="658368"/>
          </a:xfrm>
          <a:prstGeom prst="round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6966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Workflow thinking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96512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7414B"/>
                </a:solidFill>
                <a:latin typeface="Aptos"/>
              </a:rPr>
              <a:t>Understands data science as a sequence of connected operations.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83480"/>
            <a:ext cx="2377440" cy="658368"/>
          </a:xfrm>
          <a:prstGeom prst="round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12978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Technical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056632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7414B"/>
                </a:solidFill>
                <a:latin typeface="Aptos"/>
              </a:rPr>
              <a:t>Able to document a workflow and explain its purpose.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Completion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10 /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11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771" y="900684"/>
            <a:ext cx="3766456" cy="4882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989320"/>
            <a:ext cx="10332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43057"/>
                </a:solidFill>
                <a:latin typeface="Aptos"/>
              </a:rPr>
              <a:t>Completion evidence • 8-week Data Science Master Virtual Internship • April–June 2026 • Grade O (Outstanding)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11 / 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106424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43057"/>
                </a:solidFill>
                <a:latin typeface="Aptos Display"/>
              </a:rPr>
              <a:t>The internship converted data-science concepts into a connected practical workflow.</a:t>
            </a:r>
          </a:p>
          <a:p>
            <a:pPr>
              <a:spcBef>
                <a:spcPts val="1500"/>
              </a:spcBef>
              <a:defRPr sz="1900">
                <a:solidFill>
                  <a:srgbClr val="37414B"/>
                </a:solidFill>
                <a:latin typeface="Aptos"/>
              </a:defRPr>
            </a:pPr>
            <a:r>
              <a:rPr dirty="0"/>
              <a:t>• It strengthened the link between data preparation, modelling and evaluation.</a:t>
            </a:r>
          </a:p>
          <a:p>
            <a:pPr>
              <a:spcBef>
                <a:spcPts val="1500"/>
              </a:spcBef>
              <a:defRPr sz="1900">
                <a:solidFill>
                  <a:srgbClr val="37414B"/>
                </a:solidFill>
                <a:latin typeface="Aptos"/>
              </a:defRPr>
            </a:pPr>
            <a:r>
              <a:rPr dirty="0"/>
              <a:t>• It provided exposure to industry-aligned visual analytics and machine-learning workflows.</a:t>
            </a:r>
          </a:p>
          <a:p>
            <a:pPr>
              <a:spcBef>
                <a:spcPts val="1500"/>
              </a:spcBef>
              <a:defRPr sz="1900">
                <a:solidFill>
                  <a:srgbClr val="37414B"/>
                </a:solidFill>
                <a:latin typeface="Aptos"/>
              </a:defRPr>
            </a:pPr>
            <a:r>
              <a:rPr dirty="0"/>
              <a:t>• The experience complements the </a:t>
            </a:r>
            <a:r>
              <a:rPr dirty="0" err="1"/>
              <a:t>B.Tech</a:t>
            </a:r>
            <a:r>
              <a:rPr dirty="0"/>
              <a:t> CSE curriculum and provides a foundation for deeper work in </a:t>
            </a:r>
            <a:endParaRPr lang="en-US" dirty="0"/>
          </a:p>
          <a:p>
            <a:pPr>
              <a:spcBef>
                <a:spcPts val="1500"/>
              </a:spcBef>
              <a:defRPr sz="1900">
                <a:solidFill>
                  <a:srgbClr val="37414B"/>
                </a:solidFill>
                <a:latin typeface="Aptos"/>
              </a:defRPr>
            </a:pPr>
            <a:r>
              <a:rPr lang="en-US" dirty="0"/>
              <a:t>    </a:t>
            </a:r>
            <a:r>
              <a:rPr dirty="0"/>
              <a:t>machine learning and data-driven software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dirty="0">
                <a:solidFill>
                  <a:srgbClr val="D27E28"/>
                </a:solidFill>
                <a:latin typeface="Aptos Display"/>
              </a:rPr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57"/>
                </a:solidFill>
                <a:latin typeface="Aptos"/>
              </a:rPr>
              <a:t>Selected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420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2D5D91"/>
                </a:solidFill>
                <a:latin typeface="Aptos"/>
              </a:rPr>
              <a:t>12 /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C76"/>
                </a:solidFill>
                <a:latin typeface="Aptos"/>
              </a:rPr>
              <a:t>IILM University  •  B.Tech CSE  •  Data Science Master Virtual Internship</a:t>
            </a:r>
            <a:r>
              <a:rPr sz="850">
                <a:solidFill>
                  <a:srgbClr val="143057"/>
                </a:solidFill>
              </a:rPr>
              <a:t>  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IILM University — Internship Report Format updated 26–27.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Internship completion certificate — Data Science Master Virtual Internship, April–June 2026.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EduSkills Foundation — About / Virtual Internship ecosystem.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Siemens — India business profile and Digital Industries.</a:t>
            </a:r>
          </a:p>
          <a:p>
            <a:pPr>
              <a:spcAft>
                <a:spcPts val="12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Altair RapidMiner Academy / AI Studio documentation.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D5D91"/>
                </a:solidFill>
                <a:latin typeface="Aptos"/>
              </a:rPr>
              <a:t>Detailed bibliography is included in the accompanying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995</Words>
  <Application>Microsoft Office PowerPoint</Application>
  <PresentationFormat>Widescreen</PresentationFormat>
  <Paragraphs>139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. GoofieDragon .</cp:lastModifiedBy>
  <cp:revision>2</cp:revision>
  <dcterms:created xsi:type="dcterms:W3CDTF">2013-01-27T09:14:16Z</dcterms:created>
  <dcterms:modified xsi:type="dcterms:W3CDTF">2026-08-19T14:50:38Z</dcterms:modified>
  <cp:category/>
</cp:coreProperties>
</file>